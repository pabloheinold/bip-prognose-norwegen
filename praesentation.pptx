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2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24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1264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Guten Tag. Ich präsentiere heute meine Zeitreihenanalyse zur Prognose des norwegischen BIP-Wachstums mithilfe von AR- und ADL-Modellen. [~15 Sekunden]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1 – Datenbasis &amp; Methodik
Die Zielgröße ist die jährliche BIP-Wachstumsrate Norwegens, aus Weltbank-Daten, 1991 bis 2024 – insgesamt 34 Beobachtungen.
Als Prädiktor habe ich die Arbeitslosenquote gewählt. Das ist konjunkturtheoretisch begründet: die Okunsche Beziehung. In Aufschwungphasen sinkt Arbeitslosigkeit verzögert, in Abschwüngen steigt sie. Auf den differenzierten Reihen liegt die zeitversetzte Korrelation bei 0,225 – moderat, aber prognose-relevant.
Den Datensatz habe ich in Training von 1991 bis 2017 – 27 Jahre – und Test von 2018 bis 2024 aufgeteilt. Das entspricht einem 80/20-Split. Die Grafik rechts zeigt beide Zeitreihen mit der gestrichelten Trainings-Test-Grenze.
Da beide Reihen im Niveau nicht stationär sind – das belegen ADF- und KPSS-Tests – habe ich sie first-differenziert. KPSS bestätigt Stationarität; ADF liefert bei dieser Stichprobengröße nur grenzwertige Ergebnisse – das ist bei kleinen Stichproben typisch. [~95 Sekunden]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2 – Modellvergleich &amp; Ergebnisse
Ich habe fünf Modelle geschätzt: zwei rein autoregressive – AR(1) und AR(2) – sowie drei ADL-Modelle, die zusätzlich verzögerte Differenzen der Arbeitslosenquote einbeziehen.
Das ADL(1,1) musste bereits verworfen werden: Der Breusch-Godfrey-Test zeigt serielle Residualkorrelation mit p=0,027 – eine Modellverletzung, die die Prognoseinterpretation problematisch macht. Es erscheint trotzdem in der Grafik, zum Vergleich.
Das beste Modell ist das ADL(2,2) mit Strukturbruch-Dummy für 2009. Es erreicht einen RMSE von 1,48 – fast 19 Prozent besser als AR(1). Der Dummy adressiert die globale Finanzkrise als verifizierten Strukturbruch und ist im Testzeitraum 2018–2024 komplett inaktiv – beeinflusst die Prognosen also nicht direkt, verbessert aber die In-Sample-Schätzung.
Die Grafik zeigt die systemische Schwäche aller Modelle: 2020 überschätzen sie das Wachstum massiv. Der COVID-Schock ist ein Out-of-Distribution-Ereignis – aus historischen Mustern schlicht nicht prognostizierbar. Ab 2021 nähern sich die ADL-Modelle der Realität stärker an.
Der Diebold-Mariano-Test ergibt p=0,059. Bei sieben Testbeobachtungen fehlt die statistische Power. Der RMSE-Vorteil ist real – aber formal nicht abgesichert. [~155 Sekunden]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3 – Fazit &amp; Schlussfolgerungen
Zusammenfassend vier Kernaussagen.
Erstens: Das ADL(2,2)+D2009 ist das leistungsstärkste Modell – sowohl nach RMSE als auch nach MAE.
Zweitens: Die Arbeitslosenquote enthält Vorlaufinformation. Die ADL-Modelle schneiden tendenziell besser ab als die reinen AR-Modelle – auch wenn das bei n=7 formal noch nicht signifikant ist.
Drittens: Exogene Schocks wie COVID bleiben unvorhersehbar. Das ist kein Modellfehler, sondern eine fundamentale Grenze jeder Zeitreihenprognose auf historischen Daten.
Und viertens: Sieben Testbeobachtungen sind für statistische Schlussfolgerungen sehr wenig. Langfristig würde eine größere Testmenge belastbarere Aussagen erlauben.
Danke für Ihre Aufmerksamkeit. Ich freue mich auf Ihre Fragen. [~65 Sekunden]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B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4165092"/>
            <a:ext cx="1920240" cy="1920240"/>
          </a:xfrm>
          <a:prstGeom prst="ellipse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126480" y="182880"/>
            <a:ext cx="283464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user-data/uploads/1781486272194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780" y="265176"/>
            <a:ext cx="2606040" cy="9692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3716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Prognose BIP-Wachstum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94360" y="21031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Norwegen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94360" y="29260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Zeitreihenanalyse mit AR- und ADL-Modellen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94360" y="3429000"/>
            <a:ext cx="4754880" cy="0"/>
          </a:xfrm>
          <a:prstGeom prst="line">
            <a:avLst/>
          </a:prstGeom>
          <a:noFill/>
          <a:ln w="19050">
            <a:solidFill>
              <a:srgbClr val="F0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35844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Heinold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40050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 209-032 – Ökonometrie und Zeitreihenanalyse  |  SoSe 2026  |  HfWU Nürtingen-Geislingen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92149" y="-57777"/>
            <a:ext cx="685800" cy="685800"/>
          </a:xfrm>
          <a:prstGeom prst="ellipse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492149" y="-57777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Datenbasis &amp; Methodik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60550"/>
            <a:ext cx="3215114" cy="671288"/>
          </a:xfrm>
          <a:prstGeom prst="roundRect">
            <a:avLst>
              <a:gd name="adj" fmla="val 8421"/>
            </a:avLst>
          </a:prstGeom>
          <a:solidFill>
            <a:srgbClr val="EEF2F9"/>
          </a:solidFill>
          <a:ln w="9525">
            <a:solidFill>
              <a:srgbClr val="D4DC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20624" y="1152144"/>
            <a:ext cx="402773" cy="402773"/>
          </a:xfrm>
          <a:prstGeom prst="ellipse">
            <a:avLst/>
          </a:prstGeom>
          <a:solidFill>
            <a:srgbClr val="162B5A"/>
          </a:solidFill>
          <a:ln w="12700">
            <a:solidFill>
              <a:srgbClr val="162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0624" y="1152144"/>
            <a:ext cx="402773" cy="40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0704" y="1078992"/>
            <a:ext cx="2508496" cy="21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Beobachtungen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0704" y="1380744"/>
            <a:ext cx="2508496" cy="325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Jährliche BIP-Wachstumsrate Norwegen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1991–2024 (World Bank, n = 34)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057400"/>
            <a:ext cx="3215114" cy="671288"/>
          </a:xfrm>
          <a:prstGeom prst="roundRect">
            <a:avLst>
              <a:gd name="adj" fmla="val 8421"/>
            </a:avLst>
          </a:prstGeom>
          <a:solidFill>
            <a:srgbClr val="EEF2F9"/>
          </a:solidFill>
          <a:ln w="9525">
            <a:solidFill>
              <a:srgbClr val="D4DC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0624" y="2130552"/>
            <a:ext cx="402773" cy="402773"/>
          </a:xfrm>
          <a:prstGeom prst="ellipse">
            <a:avLst/>
          </a:prstGeom>
          <a:solidFill>
            <a:srgbClr val="162B5A"/>
          </a:solidFill>
          <a:ln w="12700">
            <a:solidFill>
              <a:srgbClr val="162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0624" y="2130552"/>
            <a:ext cx="402773" cy="40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60704" y="2057400"/>
            <a:ext cx="2508496" cy="21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Prädiktor: Arbeitslosenquote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60704" y="2359152"/>
            <a:ext cx="2508496" cy="325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Okunsche Beziehung: r(ΔBIP, ΔAL) = 0,225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Konjunkturtheoretisch begründet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001916"/>
            <a:ext cx="3215114" cy="671288"/>
          </a:xfrm>
          <a:prstGeom prst="roundRect">
            <a:avLst>
              <a:gd name="adj" fmla="val 8421"/>
            </a:avLst>
          </a:prstGeom>
          <a:solidFill>
            <a:srgbClr val="EEF2F9"/>
          </a:solidFill>
          <a:ln w="9525">
            <a:solidFill>
              <a:srgbClr val="D4DC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0624" y="3108960"/>
            <a:ext cx="402773" cy="402773"/>
          </a:xfrm>
          <a:prstGeom prst="ellipse">
            <a:avLst/>
          </a:prstGeom>
          <a:solidFill>
            <a:srgbClr val="162B5A"/>
          </a:solidFill>
          <a:ln w="12700">
            <a:solidFill>
              <a:srgbClr val="162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0624" y="3108960"/>
            <a:ext cx="402773" cy="40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060704" y="3035808"/>
            <a:ext cx="2508496" cy="21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Test-Split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60704" y="3337560"/>
            <a:ext cx="2508496" cy="325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1991–2017 (27 Jahre)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2018–2024 (7 Jahre)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992460"/>
            <a:ext cx="3215114" cy="671288"/>
          </a:xfrm>
          <a:prstGeom prst="roundRect">
            <a:avLst>
              <a:gd name="adj" fmla="val 8421"/>
            </a:avLst>
          </a:prstGeom>
          <a:solidFill>
            <a:srgbClr val="EEF2F9"/>
          </a:solidFill>
          <a:ln w="9525">
            <a:solidFill>
              <a:srgbClr val="D4DCF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20624" y="4087368"/>
            <a:ext cx="402773" cy="402773"/>
          </a:xfrm>
          <a:prstGeom prst="ellipse">
            <a:avLst/>
          </a:prstGeom>
          <a:solidFill>
            <a:srgbClr val="162B5A"/>
          </a:solidFill>
          <a:ln w="12700">
            <a:solidFill>
              <a:srgbClr val="162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20624" y="4087368"/>
            <a:ext cx="402773" cy="402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60704" y="4014216"/>
            <a:ext cx="2508496" cy="21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Stationarisierung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60704" y="4315968"/>
            <a:ext cx="2508496" cy="325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Differenzen beider Reihen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KPSS: stationär ✓  |  ADF: grenzwertig</a:t>
            </a:r>
            <a:endParaRPr lang="en-US" sz="950" dirty="0"/>
          </a:p>
        </p:txBody>
      </p:sp>
      <p:pic>
        <p:nvPicPr>
          <p:cNvPr id="26" name="Image 0" descr="/mnt/user-data/uploads/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9200" y="726433"/>
            <a:ext cx="5574800" cy="44170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02752" y="109728"/>
            <a:ext cx="685800" cy="685800"/>
          </a:xfrm>
          <a:prstGeom prst="ellipse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302752" y="10972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6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Modellvergleich &amp; Ergebnisse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97840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Prognosegüte – Testperiode 2018–2024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298815"/>
              </p:ext>
            </p:extLst>
          </p:nvPr>
        </p:nvGraphicFramePr>
        <p:xfrm>
          <a:off x="274319" y="1280160"/>
          <a:ext cx="3572669" cy="1892333"/>
        </p:xfrm>
        <a:graphic>
          <a:graphicData uri="http://schemas.openxmlformats.org/drawingml/2006/table">
            <a:tbl>
              <a:tblPr/>
              <a:tblGrid>
                <a:gridCol w="1334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4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2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26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Modell</a:t>
                      </a:r>
                      <a:endParaRPr lang="en-US" sz="800" dirty="0"/>
                    </a:p>
                  </a:txBody>
                  <a:tcPr marL="78519" marR="78519" marT="39261" marB="39261" anchor="ctr"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en-US" sz="800" dirty="0"/>
                    </a:p>
                  </a:txBody>
                  <a:tcPr marL="78519" marR="78519" marT="39261" marB="39261" anchor="ctr"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en-US" sz="800" dirty="0"/>
                    </a:p>
                  </a:txBody>
                  <a:tcPr marL="78519" marR="78519" marT="39261" marB="39261" anchor="ctr"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BG-Test</a:t>
                      </a:r>
                      <a:endParaRPr lang="en-US" sz="800" dirty="0"/>
                    </a:p>
                  </a:txBody>
                  <a:tcPr marL="78519" marR="78519" marT="39261" marB="39261" anchor="ctr"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9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AR(1)</a:t>
                      </a:r>
                      <a:endParaRPr lang="en-US" sz="800" dirty="0"/>
                    </a:p>
                  </a:txBody>
                  <a:tcPr marL="78519" marR="78519" marT="39261" marB="39261" anchor="ctr"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1.826</a:t>
                      </a:r>
                      <a:endParaRPr lang="en-US" sz="800" dirty="0"/>
                    </a:p>
                  </a:txBody>
                  <a:tcPr marL="78519" marR="78519" marT="39261" marB="39261" anchor="ctr"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1.543</a:t>
                      </a:r>
                      <a:endParaRPr lang="en-US" sz="800" dirty="0"/>
                    </a:p>
                  </a:txBody>
                  <a:tcPr marL="78519" marR="78519" marT="39261" marB="39261" anchor="ctr"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–</a:t>
                      </a:r>
                      <a:endParaRPr lang="en-US" sz="800" dirty="0"/>
                    </a:p>
                  </a:txBody>
                  <a:tcPr marL="78519" marR="78519" marT="39261" marB="39261" anchor="ctr"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9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AR(2)</a:t>
                      </a:r>
                      <a:endParaRPr lang="en-US" sz="800" dirty="0"/>
                    </a:p>
                  </a:txBody>
                  <a:tcPr marL="78519" marR="78519" marT="39261" marB="39261" anchor="ctr"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1.765</a:t>
                      </a:r>
                      <a:endParaRPr lang="en-US" sz="800" dirty="0"/>
                    </a:p>
                  </a:txBody>
                  <a:tcPr marL="78519" marR="78519" marT="39261" marB="39261" anchor="ctr"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1.533</a:t>
                      </a:r>
                      <a:endParaRPr lang="en-US" sz="800" dirty="0"/>
                    </a:p>
                  </a:txBody>
                  <a:tcPr marL="78519" marR="78519" marT="39261" marB="39261" anchor="ctr"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–</a:t>
                      </a:r>
                      <a:endParaRPr lang="en-US" sz="800" dirty="0"/>
                    </a:p>
                  </a:txBody>
                  <a:tcPr marL="78519" marR="78519" marT="39261" marB="39261" anchor="ctr"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9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i="1" dirty="0">
                          <a:solidFill>
                            <a:srgbClr val="888888"/>
                          </a:solidFill>
                        </a:rPr>
                        <a:t>ADL(1,1)*</a:t>
                      </a:r>
                      <a:endParaRPr lang="en-US" sz="800" dirty="0"/>
                    </a:p>
                  </a:txBody>
                  <a:tcPr marL="78519" marR="78519" marT="39261" marB="39261" anchor="ctr"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i="1" dirty="0">
                          <a:solidFill>
                            <a:srgbClr val="888888"/>
                          </a:solidFill>
                        </a:rPr>
                        <a:t>1.553</a:t>
                      </a:r>
                      <a:endParaRPr lang="en-US" sz="800" dirty="0"/>
                    </a:p>
                  </a:txBody>
                  <a:tcPr marL="78519" marR="78519" marT="39261" marB="39261" anchor="ctr"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i="1" dirty="0">
                          <a:solidFill>
                            <a:srgbClr val="888888"/>
                          </a:solidFill>
                        </a:rPr>
                        <a:t>1.292</a:t>
                      </a:r>
                      <a:endParaRPr lang="en-US" sz="800" dirty="0"/>
                    </a:p>
                  </a:txBody>
                  <a:tcPr marL="78519" marR="78519" marT="39261" marB="39261" anchor="ctr"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i="1" dirty="0">
                          <a:solidFill>
                            <a:srgbClr val="CC3300"/>
                          </a:solidFill>
                        </a:rPr>
                        <a:t>p=0.027 ✗</a:t>
                      </a:r>
                      <a:endParaRPr lang="en-US" sz="800" dirty="0"/>
                    </a:p>
                  </a:txBody>
                  <a:tcPr marL="78519" marR="78519" marT="39261" marB="39261" anchor="ctr"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9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ADL(2,2)</a:t>
                      </a:r>
                      <a:endParaRPr lang="en-US" sz="800" dirty="0"/>
                    </a:p>
                  </a:txBody>
                  <a:tcPr marL="78519" marR="78519" marT="39261" marB="39261" anchor="ctr"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1.521</a:t>
                      </a:r>
                      <a:endParaRPr lang="en-US" sz="800" dirty="0"/>
                    </a:p>
                  </a:txBody>
                  <a:tcPr marL="78519" marR="78519" marT="39261" marB="39261" anchor="ctr"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1.357</a:t>
                      </a:r>
                      <a:endParaRPr lang="en-US" sz="800" dirty="0"/>
                    </a:p>
                  </a:txBody>
                  <a:tcPr marL="78519" marR="78519" marT="39261" marB="39261" anchor="ctr"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7A2D"/>
                          </a:solidFill>
                        </a:rPr>
                        <a:t>p=0.23 ✓</a:t>
                      </a:r>
                      <a:endParaRPr lang="en-US" sz="800" dirty="0"/>
                    </a:p>
                  </a:txBody>
                  <a:tcPr marL="78519" marR="78519" marT="39261" marB="39261" anchor="ctr"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9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62B5A"/>
                          </a:solidFill>
                        </a:rPr>
                        <a:t>ADL(2,2)+D2009</a:t>
                      </a:r>
                      <a:endParaRPr lang="en-US" sz="800" dirty="0"/>
                    </a:p>
                  </a:txBody>
                  <a:tcPr marL="78519" marR="78519" marT="39261" marB="39261" anchor="ctr"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2B5A"/>
                          </a:solidFill>
                        </a:rPr>
                        <a:t>1.480</a:t>
                      </a:r>
                      <a:endParaRPr lang="en-US" sz="800" dirty="0"/>
                    </a:p>
                  </a:txBody>
                  <a:tcPr marL="78519" marR="78519" marT="39261" marB="39261" anchor="ctr"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2B5A"/>
                          </a:solidFill>
                        </a:rPr>
                        <a:t>1.200</a:t>
                      </a:r>
                      <a:endParaRPr lang="en-US" sz="800" dirty="0"/>
                    </a:p>
                  </a:txBody>
                  <a:tcPr marL="78519" marR="78519" marT="39261" marB="39261" anchor="ctr"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D7A2D"/>
                          </a:solidFill>
                        </a:rPr>
                        <a:t>p=0.40 ✓</a:t>
                      </a:r>
                      <a:endParaRPr lang="en-US" sz="800" dirty="0"/>
                    </a:p>
                  </a:txBody>
                  <a:tcPr marL="78519" marR="78519" marT="39261" marB="39261" anchor="ctr">
                    <a:lnL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94027" y="3248412"/>
            <a:ext cx="3572466" cy="564163"/>
          </a:xfrm>
          <a:prstGeom prst="roundRect">
            <a:avLst>
              <a:gd name="adj" fmla="val 12857"/>
            </a:avLst>
          </a:prstGeom>
          <a:solidFill>
            <a:srgbClr val="162B5A"/>
          </a:solidFill>
          <a:ln w="12700">
            <a:solidFill>
              <a:srgbClr val="162B5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0" y="3172495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Bestes Modell: </a:t>
            </a:r>
            <a:r>
              <a:rPr lang="en-US" sz="1100" b="1" dirty="0">
                <a:solidFill>
                  <a:srgbClr val="F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ADL(2,2)+D2009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RMSE 18,9 % unter AR(1)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" y="396849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DM-Test ADL(2,2)+D2009 vs. AR(1): p = 0,059 (n = 7, einseitig) – statistisch nicht abgesichert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74319" y="4297929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ADL(1,1) verworfen wegen serieller Residualkorrelation (Breusch-Godfrey: p = 0,027)</a:t>
            </a:r>
            <a:endParaRPr lang="en-US" sz="800" dirty="0"/>
          </a:p>
        </p:txBody>
      </p:sp>
      <p:pic>
        <p:nvPicPr>
          <p:cNvPr id="12" name="Image 0" descr="/mnt/user-data/uploads/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831" y="813264"/>
            <a:ext cx="5106293" cy="39694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B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0"/>
          <p:cNvSpPr/>
          <p:nvPr/>
        </p:nvSpPr>
        <p:spPr>
          <a:xfrm>
            <a:off x="586674" y="1290367"/>
            <a:ext cx="6064980" cy="227208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E0E8F4"/>
            </a:solidFill>
            <a:prstDash val="solid"/>
          </a:ln>
          <a:effectLst>
            <a:outerShdw blurRad="1270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6798565" y="2571750"/>
            <a:ext cx="3259836" cy="3554730"/>
          </a:xfrm>
          <a:prstGeom prst="ellipse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302752" y="109728"/>
            <a:ext cx="685800" cy="685800"/>
          </a:xfrm>
          <a:prstGeom prst="ellipse">
            <a:avLst/>
          </a:prstGeom>
          <a:solidFill>
            <a:srgbClr val="F0A800"/>
          </a:solidFill>
          <a:ln w="12700">
            <a:solidFill>
              <a:srgbClr val="F0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302752" y="10972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474720" cy="0"/>
          </a:xfrm>
          <a:prstGeom prst="line">
            <a:avLst/>
          </a:prstGeom>
          <a:noFill/>
          <a:ln w="19050">
            <a:solidFill>
              <a:srgbClr val="F0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6344" y="12344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1389888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Bestes Modell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824227"/>
            <a:ext cx="3136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ADL(2,2)+D2009: RMSE = 1,48 auf Niveauebene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Knapp 19 % besser als das Basismodell AR(1)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01184" y="12344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63340" y="1364681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Vorlaufinformation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63340" y="1831025"/>
            <a:ext cx="3136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Arbeitslosenquote liefert Prognosemehrwert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ADL-Modelle schlagen AR-Modelle tendenziell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6344" y="30083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1812" y="2421176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Exogene Schocks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5528" y="2878376"/>
            <a:ext cx="3136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COVID-19-Schock 2020: Out-of-Distribution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Historische Muster → keine Prognose möglich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01184" y="30083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49624" y="2424454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Statistische Grenzen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863340" y="2902108"/>
            <a:ext cx="3136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DM-Test p = 0,059 bei n = 7 – Power fehlt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Ergebnisse vorsichtig zu interpretieren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4663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Vielen Dank für </a:t>
            </a:r>
            <a:r>
              <a:rPr lang="en-US" sz="12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Ihre</a:t>
            </a: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Aufmerksamkeit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807</Words>
  <Application>Microsoft Macintosh PowerPoint</Application>
  <PresentationFormat>On-screen Show (16:9)</PresentationFormat>
  <Paragraphs>76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Prognose BIP-Wachstum Norwegen</dc:title>
  <dc:subject>PptxGenJS Presentation</dc:subject>
  <dc:creator>Pablo Heinold</dc:creator>
  <cp:lastModifiedBy>Heinold, Pablo Amadeus</cp:lastModifiedBy>
  <cp:revision>3</cp:revision>
  <dcterms:created xsi:type="dcterms:W3CDTF">2026-06-15T02:03:42Z</dcterms:created>
  <dcterms:modified xsi:type="dcterms:W3CDTF">2026-06-15T03:15:53Z</dcterms:modified>
</cp:coreProperties>
</file>